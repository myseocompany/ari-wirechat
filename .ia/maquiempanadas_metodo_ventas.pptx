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de Ventas B2B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SPIN · Maquiempanadas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el equipo comercial ·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Entregable de consultoría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la venta tradicional no funciona aquí?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41148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hacen hoy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40233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Hablan de características antes de entender el negocio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01168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011680"/>
            <a:ext cx="40233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el precio sin haber encontrado el problema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65176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651760"/>
            <a:ext cx="40233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Convencen en lugar de preguntar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3434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914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 el método SPIN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371600"/>
            <a:ext cx="42519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descubre el problema por sí solo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011680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2011680"/>
            <a:ext cx="42519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aparece después del valor, no antes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651760"/>
            <a:ext cx="4343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2651760"/>
            <a:ext cx="425196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objeciones desaparecen antes de aparecer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4251960"/>
            <a:ext cx="8686800" cy="68580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trabajo no es convencer. Es entender. Si el problema es real y la solución encaja, la venta fluye sola.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lógica del método: 4 preguntas en orden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13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pregunta tiene un propósito. El orden importa.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73152" cy="80467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80160"/>
            <a:ext cx="438912" cy="438912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11887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del negocio de hoy. Pocos y precisos — el cliente se aburre con demasiadas.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011680"/>
            <a:ext cx="8686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011680"/>
            <a:ext cx="73152" cy="804672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94560"/>
            <a:ext cx="438912" cy="438912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21031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los puso a buscar la máquina? Calla. Escucha sin interrumpir ni sugerir.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8686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26080"/>
            <a:ext cx="73152" cy="804672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108960"/>
            <a:ext cx="438912" cy="438912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999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30175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les cuesta ese problema en plata, clientes y crecimiento. La parte más poderosa — y la más saltada.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840480"/>
            <a:ext cx="8686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840480"/>
            <a:ext cx="73152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023360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913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NECESIDAD-BENEFICIO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63240" y="39319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describe cómo sería su negocio sin el problema. Que él lo diga — no tú.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5 principios del vendedor SPIN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20440" y="9601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Postura, sonrisa, CRM abierto. El cliente siente si estás presente o 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99032"/>
            <a:ext cx="8412480" cy="0"/>
          </a:xfrm>
          <a:prstGeom prst="line">
            <a:avLst/>
          </a:prstGeom>
          <a:noFill/>
          <a:ln w="10160">
            <a:solidFill>
              <a:srgbClr val="2E42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64792"/>
            <a:ext cx="320040" cy="32004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7647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&gt; argumentos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7647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buena pregunta vale más que diez argumentos.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8412480" cy="0"/>
          </a:xfrm>
          <a:prstGeom prst="line">
            <a:avLst/>
          </a:prstGeom>
          <a:noFill/>
          <a:ln w="10160">
            <a:solidFill>
              <a:srgbClr val="2E42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69464"/>
            <a:ext cx="320040" cy="32004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9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69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 a la vez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5694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una, calla, escucha, reacciona. Nunca dos seguidas.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8412480" cy="0"/>
          </a:xfrm>
          <a:prstGeom prst="line">
            <a:avLst/>
          </a:prstGeom>
          <a:noFill/>
          <a:ln w="10160">
            <a:solidFill>
              <a:srgbClr val="2E42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74136"/>
            <a:ext cx="320040" cy="32004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74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3741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primero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20440" y="337413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qué le duele antes de mostrar la solución.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13048"/>
            <a:ext cx="8412480" cy="0"/>
          </a:xfrm>
          <a:prstGeom prst="line">
            <a:avLst/>
          </a:prstGeom>
          <a:noFill/>
          <a:ln w="10160">
            <a:solidFill>
              <a:srgbClr val="2E42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78808"/>
            <a:ext cx="320040" cy="32004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78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178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antes que precio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20440" y="417880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des precio sin entender el negocio.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qué necesitan la máquina?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define todo: las preguntas, lo que muestras y cómo cierras.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4160520" cy="54864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más sin contratar más gente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Productores, empanaderos en crecimiento, restaurantes con alta demanda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078992"/>
            <a:ext cx="4160520" cy="54864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producto siempre salga igual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5179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Cadenas, restaurantes con rotación, hoteles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938528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938528"/>
            <a:ext cx="4160520" cy="54864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0299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Bajar el costo por empanada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377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con clientes grandes, cadenas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938528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938528"/>
            <a:ext cx="4160520" cy="54864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299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Decirle que sí a pedidos grandes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377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que venden a distribuidores, colegios, hospitales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2798064"/>
            <a:ext cx="4389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77440" y="2798064"/>
            <a:ext cx="4389120" cy="54864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88950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menú sin otro equipo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2369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y cafeterías que quieren diversificarse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8686800" cy="50292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la primera respuesta larga del cliente. Ahí está la respuesta.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llamada en 7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841248"/>
            <a:ext cx="0" cy="4023360"/>
          </a:xfrm>
          <a:prstGeom prst="line">
            <a:avLst/>
          </a:prstGeom>
          <a:noFill/>
          <a:ln w="25400">
            <a:solidFill>
              <a:srgbClr val="C884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77824"/>
            <a:ext cx="365760" cy="365760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77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(30 seg)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confianza desde el primer segundo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EL NEGOCIO (4–6 min)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89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niveles SPIN en orden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1956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SOCIAL (2 min)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9568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que más se parece al tuyo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578608"/>
            <a:ext cx="365760" cy="365760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Y PRECIO (2–3 min)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523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que resuelve el problema que encontraste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145536"/>
            <a:ext cx="365760" cy="365760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090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termina con un paso concreto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712464"/>
            <a:ext cx="365760" cy="365760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5568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COTIZACIÓN / SEGUIMIENTO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temperatura del cliente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279392"/>
            <a:ext cx="365760" cy="365760"/>
          </a:xfrm>
          <a:prstGeom prst="ellipse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4224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VENTA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todo claro, confirmar sin ambigüedad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Implicación: la etapa más importante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pequeño se ignora. Las preguntas de implicación revelan cuánto cuesta en realidad.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38404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(trabaja en producción)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36192"/>
            <a:ext cx="3977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dijo: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damos abasto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37944"/>
            <a:ext cx="39776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empanadas dejan de hacer? ¿Cuánto es eso al mes?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258568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3977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dijo: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Rechazamos pedidos grandes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587752"/>
            <a:ext cx="39776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pedidos así han dicho que no este año?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008376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35808"/>
            <a:ext cx="39776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dijo: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Dependemos del que sabe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337560"/>
            <a:ext cx="39776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cuando esa persona no llega?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343400" cy="38404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097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 (dueño, no produce)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508760"/>
            <a:ext cx="4343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dijo: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no escala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1837944"/>
            <a:ext cx="42062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¿Siente que el negocio tiene un techo con ese proceso?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258568"/>
            <a:ext cx="4343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dijo: </a:t>
            </a:r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no dan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2587752"/>
            <a:ext cx="42062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tendría que cambiar para que sí dieran?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224528"/>
            <a:ext cx="8686800" cy="77724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24528"/>
            <a:ext cx="8503920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confirme el problema: 'Lo que me está diciendo es que el proceso manual no es el problema de hoy — es lo que le pone techo al negocio mañana.'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máquina ofrecer?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parte del volumen y el tipo de masa — no del precio.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78992"/>
          <a:ext cx="8686800" cy="310896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393192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Máquina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Emp/hora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Masas y productos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 quién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CM06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Maíz · Arepas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Inicio, volumen bajo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CM06B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Maíz · Arepas rellenas · Patacones · Aborrajados · Pasteles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Inicio con portafolio variado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CM07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Solo trigo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Especializado en trigo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CM08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Trigo · Maíz · Arepas · múltiples productos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Mediano con menú variado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CM05S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Trigo · Maíz · múltiples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Crecimiento fuerte o industrial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CM05i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1.600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Igual que CM05S + control remoto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Dueño no siempre presente, varios locales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343400"/>
            <a:ext cx="8686800" cy="502920"/>
          </a:xfrm>
          <a:prstGeom prst="rect">
            <a:avLst/>
          </a:prstGeom>
          <a:solidFill>
            <a:srgbClr val="E8D5B5"/>
          </a:solidFill>
          <a:ln w="12700">
            <a:solidFill>
              <a:srgbClr val="E8D5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recuperación = precio máquina ÷ ahorro mensual en personal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responder las objeciones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dale la razón. Nunca contradigas de frente.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69080" cy="96012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96012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390448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 muy caro"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3904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es una inversión. ¿Le muestro cómo otros calcularon cuándo se les pagaba sola?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69080" cy="96012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43000"/>
            <a:ext cx="64008" cy="96012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188720"/>
            <a:ext cx="390448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"Ahorita no es el momento"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554480"/>
            <a:ext cx="3904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tendría que pasar para que sea el momento?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4069080" cy="96012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67128"/>
            <a:ext cx="64008" cy="96012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12848"/>
            <a:ext cx="390448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tengo que consultar"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578608"/>
            <a:ext cx="3904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quién lo va a hablar? ¿Le preparo un resumen para esa conversación?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67128"/>
            <a:ext cx="4069080" cy="96012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67128"/>
            <a:ext cx="64008" cy="96012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212848"/>
            <a:ext cx="390448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 tenemos proveedor"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2578608"/>
            <a:ext cx="3904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contentos están con la capacidad y consistencia?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91256"/>
            <a:ext cx="4069080" cy="96012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91256"/>
            <a:ext cx="64008" cy="96012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236976"/>
            <a:ext cx="390448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conocemos la marca"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602736"/>
            <a:ext cx="3904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años fabricando, 5 patentes, CE y FDA. ¿Una demo sin compromiso?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191256"/>
            <a:ext cx="4069080" cy="960120"/>
          </a:xfrm>
          <a:prstGeom prst="rect">
            <a:avLst/>
          </a:prstGeom>
          <a:solidFill>
            <a:srgbClr val="243654"/>
          </a:solidFill>
          <a:ln w="12700">
            <a:solidFill>
              <a:srgbClr val="2436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191256"/>
            <a:ext cx="64008" cy="96012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236976"/>
            <a:ext cx="390448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tenemos espacio"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602736"/>
            <a:ext cx="3904488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tienen? Nuestros modelos arrancan desde 1 m².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Leer la temperatura del cliente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24912" cy="41148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724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4440"/>
            <a:ext cx="2587752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el precio después del diagnóstico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856232"/>
            <a:ext cx="2724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856232"/>
            <a:ext cx="2587752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'Eso es justo lo que necesitamos'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478024"/>
            <a:ext cx="2724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478024"/>
            <a:ext cx="2587752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por garantía, capacitación o instalación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099816"/>
            <a:ext cx="2724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099816"/>
            <a:ext cx="2587752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 a un socio o jefe en la llamada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" y="446227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 cierre esta semana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777240"/>
            <a:ext cx="2724912" cy="41148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77724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82112" y="1234440"/>
            <a:ext cx="2724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3552" y="1234440"/>
            <a:ext cx="2587752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'Ahorita no' pero entiende el problema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1856232"/>
            <a:ext cx="2724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73552" y="1856232"/>
            <a:ext cx="2587752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decide solo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82112" y="446227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2 semanas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35624" y="777240"/>
            <a:ext cx="2724912" cy="4114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777240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FRÍO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35624" y="1234440"/>
            <a:ext cx="2724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27064" y="1234440"/>
            <a:ext cx="2587752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claro el problema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35624" y="4462272"/>
            <a:ext cx="2724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Campaña, retomar en meses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y después del método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3977640" cy="411480"/>
          </a:xfrm>
          <a:prstGeom prst="rect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método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92040" y="804672"/>
            <a:ext cx="397764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804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método SPIN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0" cy="411480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 quiero vender una máquina"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"Tenemos la mejor máquina del mercado"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"¿Cuándo me da una respuesta?"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se preocupe por el precio"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"¿Le interesa?"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39776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Decirle los beneficios al cliente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280160"/>
            <a:ext cx="4069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"Quisiera entender cómo están trabajando hoy"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1783080"/>
            <a:ext cx="4069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"Otros con el mismo problema lograron [resultado concreto]"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286000"/>
            <a:ext cx="4069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necesitaría ver para sentirse tranquilo de avanzar?"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788920"/>
            <a:ext cx="4069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"Hablemos primero de lo que resuelve"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291840"/>
            <a:ext cx="4069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"¿Es algo así lo que usted necesita?"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794760"/>
            <a:ext cx="4069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Preguntarle al cliente qué cambiaría si el problema ya no existiera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al colgar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9494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en el CRM justo después de cada llamada.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347472" cy="347472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1338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¿Identifiqué el problema principal?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347472" cy="347472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17007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 conecté con la solución?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347472" cy="347472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22677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cliente dijo con sus palabras el beneficio que busca?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347472" cy="347472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8346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un siguiente paso agendado con fecha y hora?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347472" cy="347472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34015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¿Sé quién decide la compra?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315968"/>
          <a:ext cx="8686800" cy="658368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645920"/>
                <a:gridCol w="1371600"/>
                <a:gridCol w="1920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 qué necesita la máquina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Problema principal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Costo del problema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Temperatura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Siguiente paso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_______________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_______________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_______________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_______________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_______________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respaldo detrás de cada venta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 el cliente dude de la calidad o no conozca la marca.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64208" cy="1828800"/>
          </a:xfrm>
          <a:prstGeom prst="rect">
            <a:avLst/>
          </a:prstGeom>
          <a:solidFill>
            <a:srgbClr val="243654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417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8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años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2176272"/>
            <a:ext cx="1517904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fabricando maquinaria para empanadas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48256" y="1280160"/>
            <a:ext cx="1664208" cy="1828800"/>
          </a:xfrm>
          <a:prstGeom prst="rect">
            <a:avLst/>
          </a:prstGeom>
          <a:solidFill>
            <a:srgbClr val="243654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1417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8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patentes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21408" y="2176272"/>
            <a:ext cx="1517904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tecnología propios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22192" y="1280160"/>
            <a:ext cx="1664208" cy="1828800"/>
          </a:xfrm>
          <a:prstGeom prst="rect">
            <a:avLst/>
          </a:prstGeom>
          <a:solidFill>
            <a:srgbClr val="243654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417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8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+ FDA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95344" y="2176272"/>
            <a:ext cx="1517904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industriales y alimentarias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96128" y="1280160"/>
            <a:ext cx="1664208" cy="1828800"/>
          </a:xfrm>
          <a:prstGeom prst="rect">
            <a:avLst/>
          </a:prstGeom>
          <a:solidFill>
            <a:srgbClr val="243654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1417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8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 países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2176272"/>
            <a:ext cx="1517904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internacional con DHL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70064" y="1280160"/>
            <a:ext cx="1664208" cy="1828800"/>
          </a:xfrm>
          <a:prstGeom prst="rect">
            <a:avLst/>
          </a:prstGeom>
          <a:solidFill>
            <a:srgbClr val="243654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0064" y="14173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84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Fábrica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43216" y="2176272"/>
            <a:ext cx="1517904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Manizales · Showroom Miami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clientes más exigentes no van a tener ningún reparo.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1097280"/>
          </a:xfrm>
          <a:prstGeom prst="rect">
            <a:avLst/>
          </a:prstGeom>
          <a:solidFill>
            <a:srgbClr val="C8842A"/>
          </a:solidFill>
          <a:ln w="12700">
            <a:solidFill>
              <a:srgbClr val="C884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llamada es una oportunidad de ayudar a alguien a darse cuenta de algo que ya sabía pero no había articulado.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3108960"/>
            <a:ext cx="4572000" cy="0"/>
          </a:xfrm>
          <a:prstGeom prst="line">
            <a:avLst/>
          </a:prstGeom>
          <a:noFill/>
          <a:ln w="25400">
            <a:solidFill>
              <a:srgbClr val="C884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SPIN · Maquiempanadas ·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de consultoría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 de Ventas B2B - Maquiempanadas</dc:title>
  <dc:subject>PptxGenJS Presentation</dc:subject>
  <dc:creator>Consultoría Comercial</dc:creator>
  <cp:lastModifiedBy>Consultoría Comercial</cp:lastModifiedBy>
  <cp:revision>1</cp:revision>
  <dcterms:created xsi:type="dcterms:W3CDTF">2026-03-16T01:47:31Z</dcterms:created>
  <dcterms:modified xsi:type="dcterms:W3CDTF">2026-03-16T01:47:31Z</dcterms:modified>
</cp:coreProperties>
</file>